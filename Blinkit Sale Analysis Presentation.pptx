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Sales by Item Type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solidFill>
              <a:srgbClr val="0D94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95-45D5-A755-354F33ECCEB3}"/>
              </c:ext>
            </c:extLst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695-45D5-A755-354F33ECCEB3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695-45D5-A755-354F33ECCEB3}"/>
              </c:ext>
            </c:extLst>
          </c:dPt>
          <c:dPt>
            <c:idx val="3"/>
            <c:invertIfNegative val="0"/>
            <c:bubble3D val="0"/>
            <c:spPr>
              <a:solidFill>
                <a:srgbClr val="4ADE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95-45D5-A755-354F33ECCEB3}"/>
              </c:ext>
            </c:extLst>
          </c:dPt>
          <c:dPt>
            <c:idx val="4"/>
            <c:invertIfNegative val="0"/>
            <c:bubble3D val="0"/>
            <c:spPr>
              <a:solidFill>
                <a:srgbClr val="86EF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695-45D5-A755-354F33ECCEB3}"/>
              </c:ext>
            </c:extLst>
          </c:dPt>
          <c:dPt>
            <c:idx val="5"/>
            <c:invertIfNegative val="0"/>
            <c:bubble3D val="0"/>
            <c:spPr>
              <a:solidFill>
                <a:srgbClr val="BBF7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695-45D5-A755-354F33ECCEB3}"/>
              </c:ext>
            </c:extLst>
          </c:dPt>
          <c:dPt>
            <c:idx val="6"/>
            <c:invertIfNegative val="0"/>
            <c:bubble3D val="0"/>
            <c:spPr>
              <a:solidFill>
                <a:srgbClr val="A3E6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695-45D5-A755-354F33ECCEB3}"/>
              </c:ext>
            </c:extLst>
          </c:dPt>
          <c:dPt>
            <c:idx val="7"/>
            <c:invertIfNegative val="0"/>
            <c:bubble3D val="0"/>
            <c:spPr>
              <a:solidFill>
                <a:srgbClr val="FDE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695-45D5-A755-354F33ECCE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Fruits &amp; Veg</c:v>
                </c:pt>
                <c:pt idx="1">
                  <c:v>Snack Foods</c:v>
                </c:pt>
                <c:pt idx="2">
                  <c:v>Household</c:v>
                </c:pt>
                <c:pt idx="3">
                  <c:v>Frozen Foods</c:v>
                </c:pt>
                <c:pt idx="4">
                  <c:v>Dairy</c:v>
                </c:pt>
                <c:pt idx="5">
                  <c:v>Canned</c:v>
                </c:pt>
                <c:pt idx="6">
                  <c:v>Baking Goods</c:v>
                </c:pt>
                <c:pt idx="7">
                  <c:v>Health &amp; Hyg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178124</c:v>
                </c:pt>
                <c:pt idx="1">
                  <c:v>175434</c:v>
                </c:pt>
                <c:pt idx="2">
                  <c:v>135977</c:v>
                </c:pt>
                <c:pt idx="3">
                  <c:v>118559</c:v>
                </c:pt>
                <c:pt idx="4">
                  <c:v>101276</c:v>
                </c:pt>
                <c:pt idx="5">
                  <c:v>90786</c:v>
                </c:pt>
                <c:pt idx="6">
                  <c:v>87896</c:v>
                </c:pt>
                <c:pt idx="7">
                  <c:v>64673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695-45D5-A755-354F33ECCE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Sales by Location Tier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9C01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4E-4C73-AC30-9124BF4996FC}"/>
              </c:ext>
            </c:extLst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4E-4C73-AC30-9124BF4996FC}"/>
              </c:ext>
            </c:extLst>
          </c:dPt>
          <c:dPt>
            <c:idx val="2"/>
            <c:invertIfNegative val="0"/>
            <c:bubble3D val="0"/>
            <c:spPr>
              <a:solidFill>
                <a:srgbClr val="0D94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4E-4C73-AC30-9124BF4996F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Tier 3</c:v>
                </c:pt>
                <c:pt idx="1">
                  <c:v>Tier 2</c:v>
                </c:pt>
                <c:pt idx="2">
                  <c:v>Tier 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472133</c:v>
                </c:pt>
                <c:pt idx="1">
                  <c:v>393151</c:v>
                </c:pt>
                <c:pt idx="2">
                  <c:v>336398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4E-4C73-AC30-9124BF4996F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Fat Content Split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623-4F42-88EC-FC18CB4B8C38}"/>
              </c:ext>
            </c:extLst>
          </c:dPt>
          <c:dPt>
            <c:idx val="1"/>
            <c:bubble3D val="0"/>
            <c:spPr>
              <a:solidFill>
                <a:srgbClr val="F9C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623-4F42-88EC-FC18CB4B8C3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623-4F42-88EC-FC18CB4B8C3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623-4F42-88EC-FC18CB4B8C3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Low Fat</c:v>
                </c:pt>
                <c:pt idx="1">
                  <c:v>Regular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776320</c:v>
                </c:pt>
                <c:pt idx="1">
                  <c:v>425362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623-4F42-88EC-FC18CB4B8C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Sales by Outlet Size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D3A-45EF-A33F-CC355ED3BC10}"/>
              </c:ext>
            </c:extLst>
          </c:dPt>
          <c:dPt>
            <c:idx val="1"/>
            <c:bubble3D val="0"/>
            <c:spPr>
              <a:solidFill>
                <a:srgbClr val="F9C0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3A-45EF-A33F-CC355ED3BC10}"/>
              </c:ext>
            </c:extLst>
          </c:dPt>
          <c:dPt>
            <c:idx val="2"/>
            <c:bubble3D val="0"/>
            <c:spPr>
              <a:solidFill>
                <a:srgbClr val="1B4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3A-45EF-A33F-CC355ED3BC1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D3A-45EF-A33F-CC355ED3BC1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3A-45EF-A33F-CC355ED3BC1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D3A-45EF-A33F-CC355ED3BC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Small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507896</c:v>
                </c:pt>
                <c:pt idx="1">
                  <c:v>444794</c:v>
                </c:pt>
                <c:pt idx="2">
                  <c:v>248992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D3A-45EF-A33F-CC355ED3BC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Sales by Outlet Establishment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($)</c:v>
                </c:pt>
              </c:strCache>
            </c:strRef>
          </c:tx>
          <c:spPr>
            <a:ln w="25400" cap="flat">
              <a:solidFill>
                <a:srgbClr val="1A1A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1A2E"/>
              </a:solidFill>
              <a:ln w="9525" cap="flat">
                <a:solidFill>
                  <a:srgbClr val="1A1A2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1998</c:v>
                </c:pt>
                <c:pt idx="1">
                  <c:v>2000</c:v>
                </c:pt>
                <c:pt idx="2">
                  <c:v>2002</c:v>
                </c:pt>
                <c:pt idx="3">
                  <c:v>2004</c:v>
                </c:pt>
                <c:pt idx="4">
                  <c:v>2006</c:v>
                </c:pt>
                <c:pt idx="5">
                  <c:v>2008</c:v>
                </c:pt>
                <c:pt idx="6">
                  <c:v>2010</c:v>
                </c:pt>
                <c:pt idx="7">
                  <c:v>2012</c:v>
                </c:pt>
                <c:pt idx="8">
                  <c:v>2015</c:v>
                </c:pt>
                <c:pt idx="9">
                  <c:v>2018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205000</c:v>
                </c:pt>
                <c:pt idx="1">
                  <c:v>132000</c:v>
                </c:pt>
                <c:pt idx="2">
                  <c:v>130000</c:v>
                </c:pt>
                <c:pt idx="3">
                  <c:v>131000</c:v>
                </c:pt>
                <c:pt idx="4">
                  <c:v>133000</c:v>
                </c:pt>
                <c:pt idx="5">
                  <c:v>131000</c:v>
                </c:pt>
                <c:pt idx="6">
                  <c:v>78000</c:v>
                </c:pt>
                <c:pt idx="7">
                  <c:v>132000</c:v>
                </c:pt>
                <c:pt idx="8">
                  <c:v>130000</c:v>
                </c:pt>
                <c:pt idx="9">
                  <c:v>129000</c:v>
                </c:pt>
                <c:pt idx="10">
                  <c:v>131000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8C-4FBF-8F4A-1B232411C0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750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C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292608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 Dashboard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457200" y="2788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Angsana New" panose="020B0502040204020203" pitchFamily="18" charset="-34"/>
                <a:cs typeface="Angsana New" panose="020B0502040204020203" pitchFamily="18" charset="-34"/>
              </a:rPr>
              <a:t>Business Intelligence Dashboard for Sales Performance Analysis</a:t>
            </a:r>
            <a:endParaRPr lang="en-US" sz="1900" b="1" dirty="0">
              <a:solidFill>
                <a:schemeClr val="accent6">
                  <a:lumMod val="50000"/>
                </a:schemeClr>
              </a:solidFill>
              <a:latin typeface="Angsana New" panose="020B0502040204020203" pitchFamily="18" charset="-34"/>
              <a:cs typeface="Angsana New" panose="020B0502040204020203" pitchFamily="18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3337560"/>
            <a:ext cx="5486400" cy="548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3520440"/>
            <a:ext cx="1965960" cy="12984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3630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011"/>
                </a:solidFill>
              </a:rPr>
              <a:t>$1.20M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8640" y="4206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Total Sales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3520440"/>
            <a:ext cx="1965960" cy="12984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97480" y="3630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011"/>
                </a:solidFill>
              </a:rPr>
              <a:t>8,523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697480" y="4206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No. of Items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3520440"/>
            <a:ext cx="1965960" cy="12984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846320" y="3630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011"/>
                </a:solidFill>
              </a:rPr>
              <a:t>$141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846320" y="4206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Avg Sales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903720" y="3520440"/>
            <a:ext cx="1965960" cy="12984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995160" y="363016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011"/>
                </a:solidFill>
              </a:rPr>
              <a:t>3.9★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995160" y="42062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Avg Rating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</a:rPr>
              <a:t>Presented by: Shivam Keshri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C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STEPS IN PROJECT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65760" y="841248"/>
            <a:ext cx="8412480" cy="457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41148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73152" cy="5120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0789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 Requirement Gathering / Business Requirements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645920"/>
            <a:ext cx="41148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1645920"/>
            <a:ext cx="73152" cy="5120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8640" y="1719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 Data Walkthrough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286000"/>
            <a:ext cx="41148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2286000"/>
            <a:ext cx="73152" cy="5120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2359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 Data Connection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2926080"/>
            <a:ext cx="41148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2926080"/>
            <a:ext cx="73152" cy="5120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48640" y="2999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4.  Data Cleaning / Quality Check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566160"/>
            <a:ext cx="41148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65760" y="3566160"/>
            <a:ext cx="73152" cy="5120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4864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5.  Data Modeling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206240"/>
            <a:ext cx="411480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4206240"/>
            <a:ext cx="73152" cy="512064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8640" y="42793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6.  Data Processing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663440" y="1005840"/>
            <a:ext cx="420624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663440" y="1005840"/>
            <a:ext cx="73152" cy="512064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4632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7.  DAX Calculations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663440" y="1645920"/>
            <a:ext cx="420624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663440" y="1645920"/>
            <a:ext cx="73152" cy="512064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46320" y="17190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8.  Dashboard Lay outing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663440" y="2286000"/>
            <a:ext cx="420624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663440" y="2286000"/>
            <a:ext cx="73152" cy="512064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46320" y="2359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9.  Charts Development and Formatting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663440" y="2926080"/>
            <a:ext cx="420624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4663440" y="2926080"/>
            <a:ext cx="73152" cy="512064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46320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10.  Dashboard / Report Development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4663440" y="3566160"/>
            <a:ext cx="4206240" cy="5120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663440" y="3566160"/>
            <a:ext cx="73152" cy="512064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846320" y="36393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11.  Insights Generation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C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828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REQUIREMENT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868680"/>
            <a:ext cx="91440" cy="91440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011"/>
                </a:solidFill>
              </a:rPr>
              <a:t>Objective: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123444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1920240"/>
            <a:ext cx="292608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KPI's Requirements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760" y="2487168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487168"/>
            <a:ext cx="502920" cy="96012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38912" y="276148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C011"/>
                </a:solidFill>
              </a:rPr>
              <a:t>1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05840" y="25786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C011"/>
                </a:solidFill>
              </a:rPr>
              <a:t>Total Sales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29626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overall revenue generated from all items sold.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54880" y="2487168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754880" y="2487168"/>
            <a:ext cx="502920" cy="96012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28032" y="276148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C011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394960" y="25786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C011"/>
                </a:solidFill>
              </a:rPr>
              <a:t>Average Sales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394960" y="296265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average revenue per sale.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584448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3584448"/>
            <a:ext cx="502920" cy="96012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38912" y="385876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C011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005840" y="3675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C011"/>
                </a:solidFill>
              </a:rPr>
              <a:t>Number of Items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005840" y="40599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total count of different items sold.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54880" y="3584448"/>
            <a:ext cx="411480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754880" y="3584448"/>
            <a:ext cx="502920" cy="96012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28032" y="3858768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C011"/>
                </a:solidFill>
              </a:rPr>
              <a:t>4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5394960" y="36758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C011"/>
                </a:solidFill>
              </a:rPr>
              <a:t>Average Rating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394960" y="40599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average customer rating for items sold.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C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459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REQUIREMENT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274320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Chart's Requirements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280160"/>
            <a:ext cx="8412480" cy="8412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280160"/>
            <a:ext cx="73152" cy="84124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2920" y="1444752"/>
            <a:ext cx="411480" cy="411480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14721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51560" y="1335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011"/>
                </a:solidFill>
              </a:rPr>
              <a:t>Total Sales by Fat Content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17920" y="13350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Donut Chart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1627632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Objective: Analyze the impact of fat content on total sales.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51560" y="185623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KPI: Assess how other KPIs (Avg Sales, No. of Items, Avg Rating) vary with fat content.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212848"/>
            <a:ext cx="8412480" cy="8412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65760" y="2212848"/>
            <a:ext cx="73152" cy="84124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02920" y="2377440"/>
            <a:ext cx="411480" cy="411480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02920" y="24048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22677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011"/>
                </a:solidFill>
              </a:rPr>
              <a:t>Total Sales by Item Type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Bar Chart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51560" y="2560320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Objective: Identify the performance of different item types in terms of total sales.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51560" y="278892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KPI: Assess how other KPIs (Avg Sales, No. of Items, Avg Rating) vary with fat content.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65760" y="3145536"/>
            <a:ext cx="8412480" cy="8412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365760" y="3145536"/>
            <a:ext cx="73152" cy="84124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02920" y="3310128"/>
            <a:ext cx="411480" cy="411480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02920" y="33375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051560" y="3200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011"/>
                </a:solidFill>
              </a:rPr>
              <a:t>Fat Content by Outlet for Total Sales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217920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Stacked Column Chart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51560" y="3493008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Objective: Compare total sales across different outlets segmented by fat content.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372160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</a:rPr>
              <a:t>KPI: Assess how other KPIs (Avg Sales, No. of Items, Avg Rating) vary with fat content.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65760" y="4078224"/>
            <a:ext cx="8412480" cy="8412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65760" y="4078224"/>
            <a:ext cx="73152" cy="84124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02920" y="4242816"/>
            <a:ext cx="411480" cy="411480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02920" y="427024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51560" y="4133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C011"/>
                </a:solidFill>
              </a:rPr>
              <a:t>Total Sales by Outlet Establishment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217920" y="41330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Line Chart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51560" y="4425696"/>
            <a:ext cx="6675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</a:rPr>
              <a:t>Objective: Evaluate how the age or type of outlet establishment influences total sales.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C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37160"/>
            <a:ext cx="18288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4592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4F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REQUIREMENT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365760" y="777240"/>
            <a:ext cx="2743200" cy="38404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Chart's Requirements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1261872"/>
            <a:ext cx="84124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1261872"/>
            <a:ext cx="73152" cy="1078992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02920" y="1536192"/>
            <a:ext cx="438912" cy="438912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" y="156362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78992" y="13533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011"/>
                </a:solidFill>
              </a:rPr>
              <a:t>Sales by Outlet Size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217920" y="1353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Donut / Pie Chart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78992" y="170078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Objective: Analyze the correlation between outlet size and total sales.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468880"/>
            <a:ext cx="84124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468880"/>
            <a:ext cx="73152" cy="1078992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02920" y="2743200"/>
            <a:ext cx="438912" cy="438912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2920" y="277063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78992" y="2560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011"/>
                </a:solidFill>
              </a:rPr>
              <a:t>Sales by Outlet Location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17920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Funnel Map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78992" y="29077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Objective: Assess the geographic distribution of sales across different locations.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65760" y="3675888"/>
            <a:ext cx="8412480" cy="107899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65760" y="3675888"/>
            <a:ext cx="73152" cy="1078992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502920" y="3950208"/>
            <a:ext cx="438912" cy="438912"/>
          </a:xfrm>
          <a:prstGeom prst="ellipse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02920" y="397764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78992" y="3767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C011"/>
                </a:solidFill>
              </a:rPr>
              <a:t>All Metrics by Outlet Type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21792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16"/>
                </a:solidFill>
              </a:rPr>
              <a:t>Chart Type: Matrix Card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78992" y="4114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</a:rPr>
              <a:t>Objective: Provide a comprehensive view of all key metrics (Total Sales, Average Sales, Number of Items, Average Rating) broken down by different outlet types.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"/>
            <a:ext cx="210312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828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16"/>
                </a:solidFill>
              </a:rPr>
              <a:t>DASHBOARD OVERVIEW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5669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Blinkit Grocery Sales — Key Metrics at a Glance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4320" y="120700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207008"/>
            <a:ext cx="2011680" cy="73152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16"/>
                </a:solidFill>
              </a:rPr>
              <a:t>$1.20M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65760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TOTAL SALES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120700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450592" y="1207008"/>
            <a:ext cx="2011680" cy="731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542032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4F8A"/>
                </a:solidFill>
              </a:rPr>
              <a:t>$141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542032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AVG SALES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120700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26864" y="1207008"/>
            <a:ext cx="20116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18304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</a:rPr>
              <a:t>8,523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718304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NO OF ITEMS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03136" y="1207008"/>
            <a:ext cx="2011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803136" y="1207008"/>
            <a:ext cx="20116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94576" y="13898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3.9★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894576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55555"/>
                </a:solidFill>
              </a:rPr>
              <a:t>AVG RATING</a:t>
            </a:r>
            <a:endParaRPr lang="en-US" sz="10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2514600"/>
          <a:ext cx="5303520" cy="23957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1"/>
          <p:cNvGraphicFramePr/>
          <p:nvPr/>
        </p:nvGraphicFramePr>
        <p:xfrm>
          <a:off x="5669280" y="2514600"/>
          <a:ext cx="3291840" cy="123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Chart 2"/>
          <p:cNvGraphicFramePr/>
          <p:nvPr/>
        </p:nvGraphicFramePr>
        <p:xfrm>
          <a:off x="5669280" y="3840480"/>
          <a:ext cx="3291840" cy="1069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"/>
            <a:ext cx="210312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82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D9416"/>
                </a:solidFill>
              </a:rPr>
              <a:t>OUTLET ANALYSIS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65760" y="56692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Performance by Outlet Type, Size &amp; Year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274320" y="117043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Outlet Type Summary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54480"/>
          <a:ext cx="7680960" cy="15544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Outlet Type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Sales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 of Items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Sales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Avg Rating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Item Visibility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Grocery Store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$152K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1,083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$140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0.10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Supermarket Type1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$788K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5,577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$141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Supermarket Type2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$131K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928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$142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Supermarket Type3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$131K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935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$140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</a:rPr>
                        <a:t>0.06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Chart 0"/>
          <p:cNvGraphicFramePr/>
          <p:nvPr/>
        </p:nvGraphicFramePr>
        <p:xfrm>
          <a:off x="274320" y="3246120"/>
          <a:ext cx="411480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572000" y="3246120"/>
          <a:ext cx="42976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blinkit_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64592"/>
            <a:ext cx="1920240" cy="960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1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C011"/>
                </a:solidFill>
              </a:rPr>
              <a:t>KEY INSIGHTS &amp; CONCLUSION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217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the Blinkit Dashboard Reveals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298448"/>
            <a:ext cx="406908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64008" cy="111556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" y="1353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011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1792" y="1755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Low Fat Dominates Sales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1792" y="206654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64.7% of total revenue comes from Low Fat items, reflecting strong health-conscious consumer trends.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298448"/>
            <a:ext cx="406908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54880" y="1298448"/>
            <a:ext cx="64008" cy="111556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19472" y="135331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011"/>
                </a:solidFill>
              </a:rPr>
              <a:t>02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4919472" y="1755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Tier 3 is the Revenue Leader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919472" y="206654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Tier 3 cities generate $472K — highest among all tiers — proving Blinkit's deep small-city strategy pays off.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2532888"/>
            <a:ext cx="406908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2532888"/>
            <a:ext cx="64008" cy="111556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" y="25877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011"/>
                </a:solidFill>
              </a:rPr>
              <a:t>03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21792" y="2990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Fruits &amp; Snacks Lead Products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1792" y="3300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Fruits &amp; Vegetables ($178K) and Snack Foods ($175K) together account for nearly 30% of all product sales.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2532888"/>
            <a:ext cx="406908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754880" y="2532888"/>
            <a:ext cx="64008" cy="111556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919472" y="25877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011"/>
                </a:solidFill>
              </a:rPr>
              <a:t>04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19472" y="29900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Supermarket Type1 Rules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919472" y="330098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Type1 Supermarkets contribute $788K (65% of outlet revenue) — the backbone of Blinkit's business.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3767328"/>
            <a:ext cx="406908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57200" y="3767328"/>
            <a:ext cx="64008" cy="111556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1792" y="38221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011"/>
                </a:solidFill>
              </a:rPr>
              <a:t>05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21792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Medium Outlets are Key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1792" y="45354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Medium-sized outlets contribute 42% of total sales, making them the most productive outlet category.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54880" y="3767328"/>
            <a:ext cx="4069080" cy="111556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4754880" y="3767328"/>
            <a:ext cx="64008" cy="111556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919472" y="382219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C011"/>
                </a:solidFill>
              </a:rPr>
              <a:t>06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4919472" y="42245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Stable Avg Sales Across Types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919472" y="453542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</a:rPr>
              <a:t>Average sales remain consistent (~$140-142) across all outlet types, showing balanced pricing strategy.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</a:rPr>
              <a:t>Thank You  |  Shivam Keshri  |  Blinkit Sales Analysis — Power BI Project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C011"/>
          </a:solidFill>
          <a:ln w="12700">
            <a:solidFill>
              <a:srgbClr val="F9C0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16"/>
          </a:solidFill>
          <a:ln w="12700">
            <a:solidFill>
              <a:srgbClr val="0D94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201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0218" y="201168"/>
            <a:ext cx="649778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Live Dashboard — Blinkit Sales Analysis</a:t>
            </a:r>
            <a:endParaRPr lang="en-US" sz="2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E984CF-9A28-4D09-41E4-7DA640221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6" y="0"/>
            <a:ext cx="9050648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738</Words>
  <Application>Microsoft Office PowerPoint</Application>
  <PresentationFormat>On-screen Show (16:9)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Angsana New</vt:lpstr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Sales Analysis - Power BI Project</dc:title>
  <dc:subject>PptxGenJS Presentation</dc:subject>
  <dc:creator>Shivam Keshri</dc:creator>
  <cp:lastModifiedBy>Shivam Keshri</cp:lastModifiedBy>
  <cp:revision>3</cp:revision>
  <dcterms:created xsi:type="dcterms:W3CDTF">2026-06-07T12:06:42Z</dcterms:created>
  <dcterms:modified xsi:type="dcterms:W3CDTF">2026-06-07T14:14:21Z</dcterms:modified>
</cp:coreProperties>
</file>